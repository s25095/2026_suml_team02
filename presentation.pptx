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2" r:id="rId21"/>
    <p:sldId id="261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BAE48A-FFD7-4181-8756-FA5498325CE1}">
  <a:tblStyle styleId="{3FBAE48A-FFD7-4181-8756-FA5498325C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?>
<ns0:Relationships xmlns:ns0="http://schemas.openxmlformats.org/package/2006/relationships"><ns0:Relationship Id="rId20" Type="http://schemas.openxmlformats.org/officeDocument/2006/relationships/font" Target="fonts/Lato-boldItalic.fntdata" /><ns0:Relationship Id="rId11" Type="http://schemas.openxmlformats.org/officeDocument/2006/relationships/slide" Target="slides/slide5.xml" /><ns0:Relationship Id="rId10" Type="http://schemas.openxmlformats.org/officeDocument/2006/relationships/slide" Target="slides/slide4.xml" /><ns0:Relationship Id="rId13" Type="http://schemas.openxmlformats.org/officeDocument/2006/relationships/font" Target="fonts/Montserrat-regular.fntdata" /><ns0:Relationship Id="rId12" Type="http://schemas.openxmlformats.org/officeDocument/2006/relationships/slide" Target="slides/slide6.xml" /><ns0:Relationship Id="rId1" Type="http://schemas.openxmlformats.org/officeDocument/2006/relationships/theme" Target="theme/theme1.xml" /><ns0:Relationship Id="rId2" Type="http://schemas.openxmlformats.org/officeDocument/2006/relationships/viewProps" Target="viewProps.xml" /><ns0:Relationship Id="rId3" Type="http://schemas.openxmlformats.org/officeDocument/2006/relationships/presProps" Target="presProps.xml" /><ns0:Relationship Id="rId4" Type="http://schemas.openxmlformats.org/officeDocument/2006/relationships/tableStyles" Target="tableStyles.xml" /><ns0:Relationship Id="rId9" Type="http://schemas.openxmlformats.org/officeDocument/2006/relationships/slide" Target="slides/slide3.xml" /><ns0:Relationship Id="rId15" Type="http://schemas.openxmlformats.org/officeDocument/2006/relationships/font" Target="fonts/Montserrat-italic.fntdata" /><ns0:Relationship Id="rId14" Type="http://schemas.openxmlformats.org/officeDocument/2006/relationships/font" Target="fonts/Montserrat-bold.fntdata" /><ns0:Relationship Id="rId17" Type="http://schemas.openxmlformats.org/officeDocument/2006/relationships/font" Target="fonts/Lato-regular.fntdata" /><ns0:Relationship Id="rId16" Type="http://schemas.openxmlformats.org/officeDocument/2006/relationships/font" Target="fonts/Montserrat-boldItalic.fntdata" /><ns0:Relationship Id="rId5" Type="http://schemas.openxmlformats.org/officeDocument/2006/relationships/slideMaster" Target="slideMasters/slideMaster1.xml" /><ns0:Relationship Id="rId19" Type="http://schemas.openxmlformats.org/officeDocument/2006/relationships/font" Target="fonts/Lato-italic.fntdata" /><ns0:Relationship Id="rId6" Type="http://schemas.openxmlformats.org/officeDocument/2006/relationships/notesMaster" Target="notesMasters/notesMaster1.xml" /><ns0:Relationship Id="rId18" Type="http://schemas.openxmlformats.org/officeDocument/2006/relationships/font" Target="fonts/Lato-bold.fntdata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21" Type="http://schemas.openxmlformats.org/officeDocument/2006/relationships/slide" Target="slides/slide7.xml" /></ns0: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a8aceb0f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a8aceb0f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8aceb0f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8aceb0f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a8aceb0f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a8aceb0f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a8aceb0f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a8aceb0f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8aceb0f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8aceb0f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8aceb0f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8aceb0f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7.xml" /></ns0: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CAR PRICE PREDICTION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Aplikacja webowa do szacowania ceny używanego auta w PLN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PROBLEM I CEL 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Problem: Jak prosto wycenić używany samochód? Czy nie </a:t>
            </a:r>
            <a:r>
              <a:rPr lang="pl" sz="1500"/>
              <a:t>przepłacę</a:t>
            </a:r>
            <a:r>
              <a:rPr lang="pl" sz="1500"/>
              <a:t>? Czy nie wystawiam za tanio?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500"/>
              <a:t>Cel: Dostarczyć szybką i powtarzalną </a:t>
            </a:r>
            <a:r>
              <a:rPr lang="pl" sz="1500"/>
              <a:t>cenę</a:t>
            </a:r>
            <a:r>
              <a:rPr lang="pl" sz="1500"/>
              <a:t> orientacyjną opartą na danych z prawdziwych ogłoszeń.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Disclaimer: Aplikacja nie widzi stanu technicznego, historii serwisowej ani uszkodzeń.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DANE 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1297500" y="107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{3FBAE48A-FFD7-4181-8756-FA5498325CE1}</a:tableStyleId>
              </a:tblPr>
              <a:tblGrid>
                <a:gridCol w="3619500"/>
                <a:gridCol w="3619500"/>
              </a:tblGrid>
              <a:tr h="37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KATEGORYCZNE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NUMERYCZNE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Condition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Production_year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Vehicle_brand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Vehicle_age_years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Fuel_type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Mileage_km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Drive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Power_HP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Transmission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Displacement_cm3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Doors_number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15"/>
          <p:cNvSpPr txBox="1"/>
          <p:nvPr/>
        </p:nvSpPr>
        <p:spPr>
          <a:xfrm>
            <a:off x="510550" y="4015750"/>
            <a:ext cx="8025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Czyszczenie: tylko PLN, walidacja zakresów: rok 1900-dziś, przebieg 0-1 000 000 km,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moc 2-900 HP, pojemność 1-9 000 cm3; ceny &gt;3 mln usuwane, niskie ceny młodych aut -&gt; NaN.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WYBÓR MODELU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Porównane modele: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dummy_median (baseline)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ridge, random_forest, extra_trees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lightgbm + warianty AutoGluon-inspired</a:t>
            </a:r>
            <a:endParaRPr sz="13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Wybrany: lightgbm_xt_autogluon_inspired</a:t>
            </a:r>
            <a:endParaRPr sz="13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Holdout: RMSE 25 249 PLN, MAE 9 493 PLN, R2 0,913</a:t>
            </a:r>
            <a:endParaRPr sz="13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Baseline dummy_median: RMSE 89 908 PLN</a:t>
            </a:r>
            <a:endParaRPr sz="13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Reguła: LightGBM w granicy 5% najlepszego RMSE.</a:t>
            </a:r>
            <a:endParaRPr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DEMO	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Tu wstawie 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PODSUMOWANIE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Wykonane: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End-to-end od Kaggle do produkcji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Wybór modelu oparty na metrykach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API + UI + interpretowalność predykcji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Walidacja repo: 53 testy, pylint 10/10</a:t>
            </a:r>
            <a:endParaRPr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PIPELINE I ARCHITEKTURA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50"/>
              <a:t>Przepływ end-to-end: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Kaggle dataset -&gt; data/raw/Car_sale_ads.csv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preprocessing -&gt; data/processed/car_prices_clean.csv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model selection + trening -&gt; artefakty w models/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FastAPI: formularz HTML, /health, /api/predict</a:t>
            </a:r>
            <a:endParaRPr sz="135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350"/>
              <a:t>Response: cena PLN + lokalne wyjaśnienia LightGBM</a:t>
            </a:r>
            <a:endParaRPr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